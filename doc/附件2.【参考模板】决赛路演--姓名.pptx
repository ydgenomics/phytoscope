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16141401" r:id="rId3"/>
    <p:sldId id="11089967" r:id="rId5"/>
    <p:sldId id="16141375" r:id="rId6"/>
    <p:sldId id="16141380" r:id="rId7"/>
    <p:sldId id="16141402" r:id="rId8"/>
    <p:sldId id="16141390" r:id="rId9"/>
    <p:sldId id="16141392" r:id="rId10"/>
    <p:sldId id="16141399" r:id="rId11"/>
    <p:sldId id="16141409" r:id="rId12"/>
    <p:sldId id="16141412" r:id="rId13"/>
  </p:sldIdLst>
  <p:sldSz cx="12192000" cy="6858000"/>
  <p:notesSz cx="6858000" cy="9144000"/>
  <p:custDataLst>
    <p:tags r:id="rId1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4520E46A-8A32-40B1-9143-C2E3BD33FE55}">
          <p14:sldIdLst>
            <p14:sldId id="16141401"/>
            <p14:sldId id="11089967"/>
            <p14:sldId id="16141375"/>
            <p14:sldId id="16141380"/>
            <p14:sldId id="16141402"/>
            <p14:sldId id="16141390"/>
            <p14:sldId id="16141392"/>
            <p14:sldId id="16141399"/>
            <p14:sldId id="16141409"/>
            <p14:sldId id="1614141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17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ia Vida Villanueva" initials="MVV" lastIdx="1" clrIdx="0"/>
  <p:cmAuthor id="1" name="陈彩粉(Caifen Chen)" initials="陈" lastIdx="0" clrIdx="0"/>
  <p:cmAuthor id="2" name="作者" initials="A" lastIdx="1" clrIdx="1"/>
  <p:cmAuthor id="3" name="lenovo" initials="l" lastIdx="6" clrIdx="2"/>
  <p:cmAuthor id="4" name="Administrator" initials="A" lastIdx="4" clrIdx="3"/>
  <p:cmAuthor id="5" name="宋洁然" initials="宋" lastIdx="2" clrIdx="1"/>
  <p:cmAuthor id="6" name="ming qiu" initials="m" lastIdx="17" clrIdx="1"/>
  <p:cmAuthor id="7" name="1206988966@qq.com" initials="1" lastIdx="1" clrIdx="2"/>
  <p:cmAuthor id="8" name="姜伟光" initials="姜" lastIdx="1" clrIdx="0"/>
  <p:cmAuthor id="9" name="熊先奎10009191" initials="熊先奎10009191" lastIdx="1" clrIdx="9"/>
  <p:cmAuthor id="10" name="yangpeng1" initials="y" lastIdx="1" clrIdx="9"/>
  <p:cmAuthor id="11" name="lujingjing" initials="l" lastIdx="2" clrIdx="10"/>
  <p:cmAuthor id="12" name="罗亮(Liang Luo)" initials="罗亮(Liang" lastIdx="1" clrIdx="1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CD2"/>
    <a:srgbClr val="00B2D9"/>
    <a:srgbClr val="0A0C3C"/>
    <a:srgbClr val="000523"/>
    <a:srgbClr val="000B49"/>
    <a:srgbClr val="000A45"/>
    <a:srgbClr val="000A3F"/>
    <a:srgbClr val="000628"/>
    <a:srgbClr val="000837"/>
    <a:srgbClr val="010B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093" autoAdjust="0"/>
    <p:restoredTop sz="89612" autoAdjust="0"/>
  </p:normalViewPr>
  <p:slideViewPr>
    <p:cSldViewPr snapToGrid="0" showGuides="1">
      <p:cViewPr>
        <p:scale>
          <a:sx n="72" d="100"/>
          <a:sy n="72" d="100"/>
        </p:scale>
        <p:origin x="730" y="173"/>
      </p:cViewPr>
      <p:guideLst>
        <p:guide orient="horz" pos="2217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98" d="100"/>
        <a:sy n="98" d="100"/>
      </p:scale>
      <p:origin x="0" y="-329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gs" Target="tags/tag2.xml"/><Relationship Id="rId17" Type="http://schemas.openxmlformats.org/officeDocument/2006/relationships/commentAuthors" Target="commentAuthors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622E8C-C2FA-4D43-969E-6BCEC6478C4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6C1D7A-CCBB-42C4-B8DB-1DB33965608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6" name="直接连接符 5"/>
          <p:cNvCxnSpPr/>
          <p:nvPr userDrawn="1"/>
        </p:nvCxnSpPr>
        <p:spPr>
          <a:xfrm>
            <a:off x="46049" y="760616"/>
            <a:ext cx="10974284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7"/>
          <p:cNvSpPr txBox="1"/>
          <p:nvPr userDrawn="1"/>
        </p:nvSpPr>
        <p:spPr>
          <a:xfrm>
            <a:off x="11758366" y="6608395"/>
            <a:ext cx="39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24173ED6-4A69-4FA8-8A09-51FC87ACF5D8}" type="slidenum">
              <a:rPr lang="zh-CN" altLang="en-US" sz="1200" b="1" smtClean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z="1200" b="1" dirty="0">
              <a:solidFill>
                <a:schemeClr val="bg1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64DC312-E732-4E35-ACC6-8833826DABAE}" type="slidenum">
              <a:rPr lang="zh-CN" altLang="en-US" smtClean="0"/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64DC312-E732-4E35-ACC6-8833826DABAE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193675"/>
            <a:ext cx="3634740" cy="501650"/>
          </a:xfrm>
          <a:prstGeom prst="rect">
            <a:avLst/>
          </a:prstGeom>
          <a:solidFill>
            <a:srgbClr val="00ACD2"/>
          </a:solidFill>
          <a:ln>
            <a:solidFill>
              <a:srgbClr val="00ACD2"/>
            </a:solidFill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hangingPunct="1"/>
            <a:endParaRPr lang="zh-CN" altLang="en-US" sz="2665" b="1" kern="1200" dirty="0">
              <a:ln>
                <a:noFill/>
              </a:ln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+mn-ea"/>
              <a:sym typeface="+mn-lt"/>
            </a:endParaRPr>
          </a:p>
        </p:txBody>
      </p:sp>
      <p:pic>
        <p:nvPicPr>
          <p:cNvPr id="8" name="图片 7" descr="研究院logo-2021_画板 1"/>
          <p:cNvPicPr>
            <a:picLocks noChangeAspect="1"/>
          </p:cNvPicPr>
          <p:nvPr userDrawn="1"/>
        </p:nvPicPr>
        <p:blipFill>
          <a:blip r:embed="rId2"/>
          <a:srcRect l="18141" t="35065" r="16401" b="37065"/>
          <a:stretch>
            <a:fillRect/>
          </a:stretch>
        </p:blipFill>
        <p:spPr>
          <a:xfrm>
            <a:off x="10358120" y="328295"/>
            <a:ext cx="1529080" cy="367030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226163" y="771529"/>
            <a:ext cx="11739674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64DC312-E732-4E35-ACC6-8833826DABAE}" type="slidenum">
              <a:rPr lang="zh-CN" altLang="en-US" smtClean="0"/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Blank slide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E02E1-C9BB-DE42-B726-88C9D471417C}" type="datetimeFigureOut">
              <a:rPr lang="en-US" smtClean="0"/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DA76F-531B-1D41-B645-6456DAF9A0B2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304E0-4029-4432-99D1-493017E15F0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DC312-E732-4E35-ACC6-8833826DABA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2F288E0-7875-42C4-84C8-98DBBD3BF4D2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ransition/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56" name="文本框 6"/>
          <p:cNvSpPr txBox="1"/>
          <p:nvPr>
            <p:custDataLst>
              <p:tags r:id="rId1"/>
            </p:custDataLst>
          </p:nvPr>
        </p:nvSpPr>
        <p:spPr>
          <a:xfrm>
            <a:off x="250825" y="188595"/>
            <a:ext cx="4526280" cy="523875"/>
          </a:xfrm>
          <a:prstGeom prst="rect">
            <a:avLst/>
          </a:prstGeom>
          <a:noFill/>
          <a:ln w="12700">
            <a:miter lim="4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lIns="0" tIns="0" rIns="0" bIns="0" anchor="ctr" anchorCtr="0"/>
          <a:lstStyle>
            <a:defPPr>
              <a:defRPr lang="zh-CN"/>
            </a:defPPr>
            <a:lvl1pPr>
              <a:lnSpc>
                <a:spcPct val="120000"/>
              </a:lnSpc>
              <a:def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</a:lstStyle>
          <a:p>
            <a:pPr mar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重要提示，请仔细</a:t>
            </a:r>
            <a:r>
              <a:rPr lang="zh-CN" altLang="en-US" sz="2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阅读！</a:t>
            </a:r>
            <a:endParaRPr lang="zh-CN" altLang="en-US" sz="2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88280" y="834390"/>
            <a:ext cx="660654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000" b="1" dirty="0">
                <a:solidFill>
                  <a:srgbClr val="00AC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二、各参赛组可依照</a:t>
            </a:r>
            <a:r>
              <a:rPr lang="en-US" altLang="zh-CN" sz="2000" b="1" dirty="0">
                <a:solidFill>
                  <a:srgbClr val="00AC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“</a:t>
            </a:r>
            <a:r>
              <a:rPr lang="zh-CN" altLang="en-US" sz="2000" b="1" dirty="0">
                <a:solidFill>
                  <a:srgbClr val="00AC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评分维度</a:t>
            </a:r>
            <a:r>
              <a:rPr lang="en-US" altLang="zh-CN" sz="2000" b="1" dirty="0">
                <a:solidFill>
                  <a:srgbClr val="00AC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 </a:t>
            </a:r>
            <a:r>
              <a:rPr lang="zh-CN" altLang="en-US" sz="2000" b="1" dirty="0">
                <a:solidFill>
                  <a:srgbClr val="00AC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，合理安排展示内容</a:t>
            </a:r>
            <a:endParaRPr lang="zh-CN" altLang="en-US" sz="2000" b="1" dirty="0">
              <a:solidFill>
                <a:srgbClr val="00ACD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50825" y="904875"/>
            <a:ext cx="48609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2000" b="1" dirty="0">
                <a:solidFill>
                  <a:srgbClr val="00AC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一、展示提要</a:t>
            </a:r>
            <a:endParaRPr lang="zh-CN" altLang="en-US" sz="2000" b="1" dirty="0">
              <a:solidFill>
                <a:srgbClr val="00ACD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30200" y="1496060"/>
            <a:ext cx="4958080" cy="50774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内容：形式不限于</a:t>
            </a:r>
            <a:r>
              <a:rPr lang="en-US" altLang="zh-CN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PPT</a:t>
            </a:r>
            <a:r>
              <a:rPr lang="zh-CN" altLang="en-US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，如网页、文档、工具演示</a:t>
            </a:r>
            <a:r>
              <a:rPr lang="zh-CN" altLang="en-US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等都可</a:t>
            </a:r>
            <a:endParaRPr lang="zh-CN" altLang="en-US" b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时长：</a:t>
            </a: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min/</a:t>
            </a:r>
            <a:r>
              <a:rPr lang="zh-CN" altLang="en-US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组，路演将</a:t>
            </a:r>
            <a:r>
              <a:rPr lang="zh-CN" altLang="en-US" b="1" i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严格控时</a:t>
            </a:r>
            <a:endParaRPr lang="zh-CN" altLang="en-US" b="1" i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现场讲演人员，可一人或多人</a:t>
            </a:r>
            <a:endParaRPr lang="zh-CN" altLang="en-US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如用</a:t>
            </a: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PPT</a:t>
            </a:r>
            <a:r>
              <a:rPr lang="zh-CN" altLang="en-US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展示，不要大段文字赘述，内容简明扼要</a:t>
            </a:r>
            <a:r>
              <a:rPr lang="zh-CN" altLang="en-US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逻辑性强</a:t>
            </a:r>
            <a:endParaRPr lang="zh-CN" altLang="en-US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以下模板仅供参考，可以根据项目组实际情况进行调整</a:t>
            </a:r>
            <a:r>
              <a:rPr lang="en-US" altLang="zh-CN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</a:t>
            </a:r>
            <a:r>
              <a:rPr lang="zh-CN" altLang="en-US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排版</a:t>
            </a:r>
            <a:endParaRPr lang="zh-CN" altLang="en-US" b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zh-CN" altLang="en-US" b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9880" y="1393825"/>
            <a:ext cx="4978400" cy="4629150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>
                    <a:lumMod val="75000"/>
                  </a:schemeClr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3095" y="1393825"/>
            <a:ext cx="5840730" cy="4624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副标题 9"/>
          <p:cNvSpPr>
            <a:spLocks noGrp="1"/>
          </p:cNvSpPr>
          <p:nvPr>
            <p:ph type="subTitle" idx="1"/>
          </p:nvPr>
        </p:nvSpPr>
        <p:spPr>
          <a:xfrm>
            <a:off x="1763395" y="2261235"/>
            <a:ext cx="8642985" cy="1560830"/>
          </a:xfrm>
        </p:spPr>
        <p:txBody>
          <a:bodyPr/>
          <a:p>
            <a:pPr algn="ctr">
              <a:lnSpc>
                <a:spcPct val="150000"/>
              </a:lnSpc>
            </a:pPr>
            <a:r>
              <a:rPr lang="zh-CN" altLang="en-US" sz="44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参赛项目名称</a:t>
            </a:r>
            <a:endParaRPr lang="zh-CN" altLang="en-US" sz="4400" b="1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188085" y="1244600"/>
            <a:ext cx="4266565" cy="398780"/>
          </a:xfrm>
          <a:prstGeom prst="rect">
            <a:avLst/>
          </a:prstGeom>
          <a:noFill/>
          <a:ln w="34925">
            <a:noFill/>
          </a:ln>
          <a:effectLst/>
        </p:spPr>
        <p:txBody>
          <a:bodyPr wrap="square">
            <a:spAutoFit/>
          </a:bodyPr>
          <a:p>
            <a:r>
              <a:rPr lang="en-US" altLang="zh-CN" sz="2000" dirty="0">
                <a:solidFill>
                  <a:schemeClr val="bg1"/>
                </a:solidFill>
                <a:latin typeface="Elephant" panose="02020904090505020303" pitchFamily="18" charset="0"/>
              </a:rPr>
              <a:t> </a:t>
            </a:r>
            <a:r>
              <a:rPr lang="en-US" sz="20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AI+X </a:t>
            </a:r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创新应用</a:t>
            </a:r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大赛</a:t>
            </a:r>
            <a:endParaRPr lang="zh-CN" altLang="en-US" sz="20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2" name="图片 11" descr="研究院-白色LOG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1090" y="220980"/>
            <a:ext cx="2019300" cy="506095"/>
          </a:xfrm>
          <a:prstGeom prst="rect">
            <a:avLst/>
          </a:prstGeom>
        </p:spPr>
      </p:pic>
      <p:sp>
        <p:nvSpPr>
          <p:cNvPr id="13" name="副标题 1048672"/>
          <p:cNvSpPr txBox="1"/>
          <p:nvPr/>
        </p:nvSpPr>
        <p:spPr>
          <a:xfrm>
            <a:off x="4183380" y="4078016"/>
            <a:ext cx="3962400" cy="49014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800" b="1" dirty="0">
                <a:solidFill>
                  <a:schemeClr val="bg1"/>
                </a:solidFill>
                <a:cs typeface="微软雅黑" panose="020B0503020204020204" charset="-122"/>
              </a:rPr>
              <a:t>汇报人：张三，部门：</a:t>
            </a:r>
            <a:r>
              <a:rPr lang="en-US" altLang="zh-CN" sz="1800" b="1" dirty="0">
                <a:solidFill>
                  <a:schemeClr val="bg1"/>
                </a:solidFill>
                <a:cs typeface="微软雅黑" panose="020B0503020204020204" charset="-122"/>
              </a:rPr>
              <a:t>O3</a:t>
            </a:r>
            <a:r>
              <a:rPr lang="zh-CN" altLang="en-US" sz="1800" b="1" dirty="0">
                <a:solidFill>
                  <a:schemeClr val="bg1"/>
                </a:solidFill>
                <a:cs typeface="微软雅黑" panose="020B0503020204020204" charset="-122"/>
              </a:rPr>
              <a:t>名称</a:t>
            </a:r>
            <a:endParaRPr lang="zh-CN" altLang="en-US" sz="1800" b="1" dirty="0">
              <a:solidFill>
                <a:schemeClr val="bg1"/>
              </a:solidFill>
              <a:cs typeface="微软雅黑" panose="020B0503020204020204" charset="-122"/>
            </a:endParaRPr>
          </a:p>
        </p:txBody>
      </p:sp>
      <p:sp>
        <p:nvSpPr>
          <p:cNvPr id="2" name="副标题 1048672"/>
          <p:cNvSpPr txBox="1"/>
          <p:nvPr/>
        </p:nvSpPr>
        <p:spPr>
          <a:xfrm>
            <a:off x="4462145" y="4963795"/>
            <a:ext cx="3962400" cy="90297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zh-CN" altLang="en-US" sz="1800" b="1" dirty="0">
                <a:solidFill>
                  <a:schemeClr val="bg1"/>
                </a:solidFill>
                <a:cs typeface="微软雅黑" panose="020B0503020204020204" charset="-122"/>
              </a:rPr>
              <a:t>指导</a:t>
            </a:r>
            <a:r>
              <a:rPr lang="zh-CN" altLang="en-US" sz="1800" b="1" dirty="0">
                <a:solidFill>
                  <a:schemeClr val="bg1"/>
                </a:solidFill>
                <a:cs typeface="微软雅黑" panose="020B0503020204020204" charset="-122"/>
              </a:rPr>
              <a:t>老师：</a:t>
            </a:r>
            <a:endParaRPr lang="zh-CN" altLang="en-US" sz="1800" b="1" dirty="0">
              <a:solidFill>
                <a:schemeClr val="bg1"/>
              </a:solidFill>
              <a:cs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zh-CN" altLang="en-US" sz="1800" b="1" dirty="0">
                <a:solidFill>
                  <a:schemeClr val="bg1"/>
                </a:solidFill>
                <a:cs typeface="微软雅黑" panose="020B0503020204020204" charset="-122"/>
              </a:rPr>
              <a:t>项目成员：</a:t>
            </a:r>
            <a:endParaRPr lang="zh-CN" altLang="en-US" sz="1800" b="1" dirty="0">
              <a:solidFill>
                <a:schemeClr val="bg1"/>
              </a:solidFill>
              <a:cs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标题 1048672"/>
          <p:cNvSpPr>
            <a:spLocks noGrp="1"/>
          </p:cNvSpPr>
          <p:nvPr/>
        </p:nvSpPr>
        <p:spPr>
          <a:xfrm>
            <a:off x="331470" y="279400"/>
            <a:ext cx="2942590" cy="3663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一、背景</a:t>
            </a: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介绍</a:t>
            </a:r>
            <a:endParaRPr lang="zh-CN" altLang="en-US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06425" y="1332230"/>
            <a:ext cx="10979785" cy="3193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rtl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altLang="zh-CN" b="0" dirty="0"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</a:t>
            </a:r>
            <a:r>
              <a:rPr lang="zh-CN" altLang="en-US" b="0" dirty="0"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如：</a:t>
            </a:r>
            <a:endParaRPr lang="zh-CN" altLang="en-US" b="0" dirty="0"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914400" lvl="1" indent="-457200" fontAlgn="base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en-US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项目背景</a:t>
            </a:r>
            <a:r>
              <a:rPr lang="en-US" altLang="zh-CN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  <a:r>
              <a:rPr lang="zh-CN" altLang="en-US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项目领域现状分析，为什么选择该项目进行研发（原因）</a:t>
            </a:r>
            <a:endParaRPr lang="zh-CN" altLang="en-US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914400" lvl="1" indent="-457200" fontAlgn="base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en-US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提案来源</a:t>
            </a:r>
            <a:r>
              <a:rPr lang="en-US" altLang="zh-CN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  <a:r>
              <a:rPr lang="zh-CN" altLang="en-US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根据现状，发现该领域目前存在</a:t>
            </a:r>
            <a:r>
              <a:rPr lang="en-US" altLang="zh-CN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</a:t>
            </a:r>
            <a:r>
              <a:rPr lang="zh-CN" altLang="en-US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面临问题（缺失什么）</a:t>
            </a:r>
            <a:endParaRPr lang="zh-CN" altLang="en-US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914400" lvl="1" indent="-457200" fontAlgn="base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en-US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研究想法</a:t>
            </a:r>
            <a:r>
              <a:rPr lang="en-US" altLang="zh-CN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  <a:r>
              <a:rPr lang="zh-CN" altLang="en-US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根据该领域问题提出的解决方案（项目研发方向、主题阐述）</a:t>
            </a:r>
            <a:endParaRPr lang="zh-CN" altLang="en-US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914400" lvl="1" indent="-457200" fontAlgn="base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en-US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研究的目的、意义</a:t>
            </a:r>
            <a:r>
              <a:rPr lang="zh-CN" altLang="en-US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</a:t>
            </a:r>
            <a:endParaRPr lang="zh-CN" altLang="en-US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914400" lvl="1" indent="-457200" fontAlgn="base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zh-CN" altLang="en-US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3" name="副标题 1048672"/>
          <p:cNvSpPr>
            <a:spLocks noGrp="1"/>
          </p:cNvSpPr>
          <p:nvPr/>
        </p:nvSpPr>
        <p:spPr>
          <a:xfrm>
            <a:off x="0" y="238538"/>
            <a:ext cx="2899520" cy="459381"/>
          </a:xfrm>
          <a:prstGeom prst="rect">
            <a:avLst/>
          </a:prstGeom>
        </p:spPr>
        <p:txBody>
          <a:bodyPr vert="horz" lIns="91440" tIns="45720" rIns="91440" bIns="45720" rtlCol="0">
            <a:normAutofit fontScale="35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00ACD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标题</a:t>
            </a:r>
            <a:r>
              <a:rPr kumimoji="0" lang="en-US" altLang="zh-CN" sz="6000" b="1" i="0" u="none" strike="noStrike" kern="1200" cap="none" spc="0" normalizeH="0" baseline="0" noProof="0" dirty="0">
                <a:ln>
                  <a:noFill/>
                </a:ln>
                <a:solidFill>
                  <a:srgbClr val="00ACD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XXXX</a:t>
            </a:r>
            <a:endParaRPr kumimoji="0" lang="en-US" altLang="zh-CN" sz="6000" b="1" i="0" u="none" strike="noStrike" kern="1200" cap="none" spc="0" normalizeH="0" baseline="0" noProof="0" dirty="0">
              <a:ln>
                <a:noFill/>
              </a:ln>
              <a:solidFill>
                <a:srgbClr val="00ACD2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04545" y="1125855"/>
            <a:ext cx="11127740" cy="3599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研究内容、思路、技术、方法等：</a:t>
            </a:r>
            <a:r>
              <a:rPr lang="en-US" altLang="zh-CN" sz="2400" b="1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*</a:t>
            </a:r>
            <a:r>
              <a:rPr lang="zh-CN" altLang="en-US" sz="2400" b="1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创新性</a:t>
            </a:r>
            <a:r>
              <a:rPr lang="en-US" altLang="zh-CN" sz="2400" b="1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30%</a:t>
            </a:r>
            <a:r>
              <a:rPr lang="zh-CN" altLang="en-US" sz="2400" b="1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400" b="1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*</a:t>
            </a:r>
            <a:r>
              <a:rPr lang="zh-CN" altLang="en-US" sz="2400" b="1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实用性</a:t>
            </a:r>
            <a:r>
              <a:rPr lang="en-US" altLang="zh-CN" sz="2400" b="1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/</a:t>
            </a:r>
            <a:r>
              <a:rPr lang="zh-CN" altLang="en-US" sz="2400" b="1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落地性</a:t>
            </a:r>
            <a:r>
              <a:rPr lang="en-US" altLang="zh-CN" sz="2400" b="1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50%</a:t>
            </a:r>
            <a:endParaRPr lang="en-US" altLang="zh-CN" sz="2400" b="1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endParaRPr lang="zh-CN" altLang="en-US" sz="2400" b="0" dirty="0"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914400" lvl="1" indent="-45720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有什么</a:t>
            </a:r>
            <a:r>
              <a:rPr lang="zh-CN" altLang="en-US" sz="18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发现</a:t>
            </a:r>
            <a:endParaRPr lang="zh-CN" altLang="en-US" sz="1800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914400" lvl="1" indent="-45720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突破了什么（创新性）</a:t>
            </a:r>
            <a:endParaRPr lang="zh-CN" altLang="en-US" sz="1800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914400" lvl="1" indent="-45720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sz="18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过程中遇到的难点</a:t>
            </a:r>
            <a:endParaRPr lang="zh-CN" altLang="en-US" sz="1800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 indent="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None/>
            </a:pPr>
            <a:endParaRPr lang="zh-CN" altLang="en-US" sz="1800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 indent="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800" b="0" i="0" u="none" strike="noStrike" dirty="0">
                <a:solidFill>
                  <a:srgbClr val="FF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以上提要仅供参考，如一页</a:t>
            </a:r>
            <a:r>
              <a:rPr lang="zh-CN" altLang="en-US" sz="1800" b="0" i="0" u="none" strike="noStrike" dirty="0">
                <a:solidFill>
                  <a:srgbClr val="FF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写不下可扩充</a:t>
            </a:r>
            <a:endParaRPr lang="zh-CN" altLang="en-US" sz="1800" b="0" i="0" u="none" strike="noStrike" dirty="0">
              <a:solidFill>
                <a:srgbClr val="FF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副标题 1048672"/>
          <p:cNvSpPr>
            <a:spLocks noGrp="1"/>
          </p:cNvSpPr>
          <p:nvPr/>
        </p:nvSpPr>
        <p:spPr>
          <a:xfrm>
            <a:off x="155575" y="279400"/>
            <a:ext cx="3582670" cy="3663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二、内容</a:t>
            </a:r>
            <a:r>
              <a:rPr lang="en-US" altLang="zh-CN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方法</a:t>
            </a: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阐述</a:t>
            </a:r>
            <a:endParaRPr lang="zh-CN" altLang="en-US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3" name="副标题 1048672"/>
          <p:cNvSpPr>
            <a:spLocks noGrp="1"/>
          </p:cNvSpPr>
          <p:nvPr/>
        </p:nvSpPr>
        <p:spPr>
          <a:xfrm>
            <a:off x="0" y="238538"/>
            <a:ext cx="2899520" cy="459381"/>
          </a:xfrm>
          <a:prstGeom prst="rect">
            <a:avLst/>
          </a:prstGeom>
        </p:spPr>
        <p:txBody>
          <a:bodyPr vert="horz" lIns="91440" tIns="45720" rIns="91440" bIns="45720" rtlCol="0">
            <a:normAutofit fontScale="35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00ACD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标题</a:t>
            </a:r>
            <a:r>
              <a:rPr kumimoji="0" lang="en-US" altLang="zh-CN" sz="6000" b="1" i="0" u="none" strike="noStrike" kern="1200" cap="none" spc="0" normalizeH="0" baseline="0" noProof="0" dirty="0">
                <a:ln>
                  <a:noFill/>
                </a:ln>
                <a:solidFill>
                  <a:srgbClr val="00ACD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XXXX</a:t>
            </a:r>
            <a:endParaRPr kumimoji="0" lang="en-US" altLang="zh-CN" sz="6000" b="1" i="0" u="none" strike="noStrike" kern="1200" cap="none" spc="0" normalizeH="0" baseline="0" noProof="0" dirty="0">
              <a:ln>
                <a:noFill/>
              </a:ln>
              <a:solidFill>
                <a:srgbClr val="00ACD2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2" name="副标题 1048672"/>
          <p:cNvSpPr>
            <a:spLocks noGrp="1"/>
          </p:cNvSpPr>
          <p:nvPr/>
        </p:nvSpPr>
        <p:spPr>
          <a:xfrm>
            <a:off x="331470" y="279400"/>
            <a:ext cx="2942590" cy="3663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三、创作</a:t>
            </a: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过程</a:t>
            </a:r>
            <a:endParaRPr lang="zh-CN" altLang="en-US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804545" y="1125855"/>
            <a:ext cx="11127740" cy="32302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两周内做了哪些内容、或完成了什么迭代</a:t>
            </a:r>
            <a:endParaRPr lang="zh-CN" altLang="en-US" sz="2400" b="0" dirty="0"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914400" lvl="1" indent="-45720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sz="18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如团队参赛、需展示每个人的分工</a:t>
            </a:r>
            <a:r>
              <a:rPr lang="en-US" altLang="zh-CN" sz="18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</a:t>
            </a:r>
            <a:r>
              <a:rPr lang="zh-CN" altLang="en-US" sz="18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贡献</a:t>
            </a:r>
            <a:endParaRPr lang="zh-CN" altLang="en-US" sz="1800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914400" lvl="1" indent="-45720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Char char="•"/>
            </a:pPr>
            <a:endParaRPr lang="zh-CN" altLang="en-US" sz="1800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914400" lvl="1" indent="-45720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Char char="•"/>
            </a:pPr>
            <a:endParaRPr lang="zh-CN" altLang="en-US" sz="1800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914400" lvl="1" indent="-45720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Char char="•"/>
            </a:pPr>
            <a:endParaRPr lang="zh-CN" altLang="en-US" sz="1800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 indent="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800" b="0" i="0" u="none" strike="noStrike" dirty="0">
                <a:solidFill>
                  <a:srgbClr val="FF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以上提要仅供参考，如一页</a:t>
            </a:r>
            <a:r>
              <a:rPr lang="zh-CN" altLang="en-US" sz="1800" b="0" i="0" u="none" strike="noStrike" dirty="0">
                <a:solidFill>
                  <a:srgbClr val="FF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写不下可扩充</a:t>
            </a:r>
            <a:endParaRPr lang="zh-CN" altLang="en-US" sz="1800" b="0" i="0" u="none" strike="noStrike" dirty="0">
              <a:solidFill>
                <a:srgbClr val="FF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3" name="副标题 1048672"/>
          <p:cNvSpPr>
            <a:spLocks noGrp="1"/>
          </p:cNvSpPr>
          <p:nvPr/>
        </p:nvSpPr>
        <p:spPr>
          <a:xfrm>
            <a:off x="0" y="238538"/>
            <a:ext cx="2899520" cy="459381"/>
          </a:xfrm>
          <a:prstGeom prst="rect">
            <a:avLst/>
          </a:prstGeom>
        </p:spPr>
        <p:txBody>
          <a:bodyPr vert="horz" lIns="91440" tIns="45720" rIns="91440" bIns="45720" rtlCol="0">
            <a:normAutofit fontScale="35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00ACD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标题</a:t>
            </a:r>
            <a:r>
              <a:rPr kumimoji="0" lang="en-US" altLang="zh-CN" sz="6000" b="1" i="0" u="none" strike="noStrike" kern="1200" cap="none" spc="0" normalizeH="0" baseline="0" noProof="0" dirty="0">
                <a:ln>
                  <a:noFill/>
                </a:ln>
                <a:solidFill>
                  <a:srgbClr val="00ACD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XXXX</a:t>
            </a:r>
            <a:endParaRPr kumimoji="0" lang="en-US" altLang="zh-CN" sz="6000" b="1" i="0" u="none" strike="noStrike" kern="1200" cap="none" spc="0" normalizeH="0" baseline="0" noProof="0" dirty="0">
              <a:ln>
                <a:noFill/>
              </a:ln>
              <a:solidFill>
                <a:srgbClr val="00ACD2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2" name="副标题 1048672"/>
          <p:cNvSpPr>
            <a:spLocks noGrp="1"/>
          </p:cNvSpPr>
          <p:nvPr/>
        </p:nvSpPr>
        <p:spPr>
          <a:xfrm>
            <a:off x="331470" y="279400"/>
            <a:ext cx="2942590" cy="3663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四、</a:t>
            </a: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项目成果</a:t>
            </a:r>
            <a:endParaRPr lang="zh-CN" altLang="en-US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83129" y="1362928"/>
            <a:ext cx="9678764" cy="5323205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zh-CN" altLang="en-US" sz="2400" b="1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*实用性/落地性50%、*项目</a:t>
            </a:r>
            <a:r>
              <a:rPr lang="zh-CN" altLang="en-US" sz="2400" b="1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完整性20%</a:t>
            </a:r>
            <a:endParaRPr lang="en-US" altLang="zh-CN" sz="2800" b="1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zh-CN" altLang="en-US" sz="2800" b="0" dirty="0">
              <a:effectLst/>
            </a:endParaRPr>
          </a:p>
          <a:p>
            <a:pPr marL="914400" lvl="1" indent="-45720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sz="1800" b="0" i="0" u="none" strike="noStrike" dirty="0">
                <a:solidFill>
                  <a:srgbClr val="FF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成果展示！</a:t>
            </a:r>
            <a:endParaRPr lang="zh-CN" altLang="en-US" sz="1800" b="0" i="0" u="none" strike="noStrike" dirty="0">
              <a:solidFill>
                <a:srgbClr val="FF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914400" lvl="1" indent="-45720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带来什么样的收益：提高效率</a:t>
            </a:r>
            <a:r>
              <a:rPr lang="en-US" altLang="zh-CN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/</a:t>
            </a:r>
            <a:r>
              <a:rPr lang="zh-CN" altLang="en-US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降低成本</a:t>
            </a:r>
            <a:r>
              <a:rPr lang="en-US" altLang="zh-CN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/</a:t>
            </a:r>
            <a:r>
              <a:rPr lang="zh-CN" altLang="en-US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领域探索</a:t>
            </a:r>
            <a:r>
              <a:rPr lang="en-US" altLang="zh-CN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/</a:t>
            </a:r>
            <a:r>
              <a:rPr lang="zh-CN" altLang="en-US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改善用户</a:t>
            </a:r>
            <a:r>
              <a:rPr lang="zh-CN" altLang="en-US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体验</a:t>
            </a:r>
            <a:endParaRPr lang="zh-CN" altLang="en-US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914400" lvl="1" indent="-45720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迭代</a:t>
            </a:r>
            <a:r>
              <a:rPr lang="en-US" altLang="zh-CN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/</a:t>
            </a:r>
            <a:r>
              <a:rPr lang="zh-CN" altLang="en-US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推广</a:t>
            </a:r>
            <a:r>
              <a:rPr lang="zh-CN" altLang="en-US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潜力：项目后续升级空间，以及在本单位、跨部门、多场景下的复用与推广价值</a:t>
            </a:r>
            <a:endParaRPr lang="zh-CN" altLang="en-US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914400" lvl="1" indent="-45720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项目整体优势（能给该领域目前或未来带来什么</a:t>
            </a:r>
            <a:r>
              <a:rPr lang="zh-CN" altLang="en-US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影响）</a:t>
            </a:r>
            <a:endParaRPr lang="zh-CN" altLang="en-US" sz="1800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914400" lvl="1" indent="-45720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Char char="•"/>
            </a:pPr>
            <a:endParaRPr lang="zh-CN" altLang="en-US" sz="1800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en-US" altLang="zh-CN" dirty="0">
                <a:solidFill>
                  <a:srgbClr val="FF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      </a:t>
            </a:r>
            <a:r>
              <a:rPr lang="zh-CN" altLang="en-US" dirty="0">
                <a:solidFill>
                  <a:srgbClr val="FF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以上提要仅供参考，如一页写不下可扩充</a:t>
            </a:r>
            <a:endParaRPr lang="zh-CN" altLang="en-US" b="0" i="0" u="none" strike="noStrike" dirty="0">
              <a:solidFill>
                <a:srgbClr val="FF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 indent="0" algn="l" fontAlgn="base">
              <a:lnSpc>
                <a:spcPct val="200000"/>
              </a:lnSpc>
              <a:buClrTx/>
              <a:buSzTx/>
              <a:buFont typeface="Arial" panose="020B0604020202020204" pitchFamily="34" charset="0"/>
              <a:buNone/>
            </a:pPr>
            <a:endParaRPr lang="zh-CN" altLang="en-US" sz="1800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3" name="副标题 1048672"/>
          <p:cNvSpPr>
            <a:spLocks noGrp="1"/>
          </p:cNvSpPr>
          <p:nvPr/>
        </p:nvSpPr>
        <p:spPr>
          <a:xfrm>
            <a:off x="0" y="238538"/>
            <a:ext cx="2899520" cy="459381"/>
          </a:xfrm>
          <a:prstGeom prst="rect">
            <a:avLst/>
          </a:prstGeom>
        </p:spPr>
        <p:txBody>
          <a:bodyPr vert="horz" lIns="91440" tIns="45720" rIns="91440" bIns="45720" rtlCol="0">
            <a:normAutofit fontScale="35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00ACD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标题</a:t>
            </a:r>
            <a:r>
              <a:rPr kumimoji="0" lang="en-US" altLang="zh-CN" sz="6000" b="1" i="0" u="none" strike="noStrike" kern="1200" cap="none" spc="0" normalizeH="0" baseline="0" noProof="0" dirty="0">
                <a:ln>
                  <a:noFill/>
                </a:ln>
                <a:solidFill>
                  <a:srgbClr val="00ACD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XXXX</a:t>
            </a:r>
            <a:endParaRPr kumimoji="0" lang="en-US" altLang="zh-CN" sz="6000" b="1" i="0" u="none" strike="noStrike" kern="1200" cap="none" spc="0" normalizeH="0" baseline="0" noProof="0" dirty="0">
              <a:ln>
                <a:noFill/>
              </a:ln>
              <a:solidFill>
                <a:srgbClr val="00ACD2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21682" y="1460718"/>
            <a:ext cx="8459564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 algn="l" rtl="0" fontAlgn="base">
              <a:lnSpc>
                <a:spcPct val="200000"/>
              </a:lnSpc>
              <a:spcBef>
                <a:spcPts val="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sz="180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其他需要展示的内容</a:t>
            </a:r>
            <a:endParaRPr lang="zh-CN" altLang="en-US" sz="180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副标题 1048672"/>
          <p:cNvSpPr>
            <a:spLocks noGrp="1"/>
          </p:cNvSpPr>
          <p:nvPr/>
        </p:nvSpPr>
        <p:spPr>
          <a:xfrm>
            <a:off x="331470" y="279400"/>
            <a:ext cx="2942590" cy="3663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五、</a:t>
            </a:r>
            <a:endParaRPr lang="zh-CN" altLang="en-US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4595" y="3234586"/>
            <a:ext cx="5495636" cy="609889"/>
          </a:xfrm>
        </p:spPr>
        <p:txBody>
          <a:bodyPr/>
          <a:lstStyle/>
          <a:p>
            <a:r>
              <a:rPr lang="en-US" altLang="zh-CN"/>
              <a:t> </a:t>
            </a:r>
            <a:endParaRPr lang="en-US" altLang="zh-CN"/>
          </a:p>
        </p:txBody>
      </p:sp>
      <p:grpSp>
        <p:nvGrpSpPr>
          <p:cNvPr id="6" name="组合 5"/>
          <p:cNvGrpSpPr/>
          <p:nvPr/>
        </p:nvGrpSpPr>
        <p:grpSpPr>
          <a:xfrm>
            <a:off x="-1902460" y="0"/>
            <a:ext cx="15996920" cy="6858000"/>
            <a:chOff x="-2996" y="0"/>
            <a:chExt cx="25192" cy="10800"/>
          </a:xfrm>
        </p:grpSpPr>
        <p:sp>
          <p:nvSpPr>
            <p:cNvPr id="3" name="矩形 2"/>
            <p:cNvSpPr/>
            <p:nvPr/>
          </p:nvSpPr>
          <p:spPr>
            <a:xfrm>
              <a:off x="0" y="0"/>
              <a:ext cx="19200" cy="10800"/>
            </a:xfrm>
            <a:prstGeom prst="rect">
              <a:avLst/>
            </a:prstGeom>
            <a:solidFill>
              <a:srgbClr val="00AC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椭圆 14"/>
            <p:cNvSpPr/>
            <p:nvPr/>
          </p:nvSpPr>
          <p:spPr>
            <a:xfrm>
              <a:off x="-2996" y="2491"/>
              <a:ext cx="5993" cy="5993"/>
            </a:xfrm>
            <a:prstGeom prst="ellipse">
              <a:avLst/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椭圆 17"/>
            <p:cNvSpPr/>
            <p:nvPr/>
          </p:nvSpPr>
          <p:spPr>
            <a:xfrm>
              <a:off x="14110" y="5893"/>
              <a:ext cx="1471" cy="1471"/>
            </a:xfrm>
            <a:prstGeom prst="ellipse">
              <a:avLst/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椭圆 18"/>
            <p:cNvSpPr/>
            <p:nvPr/>
          </p:nvSpPr>
          <p:spPr>
            <a:xfrm>
              <a:off x="16204" y="2491"/>
              <a:ext cx="5993" cy="5993"/>
            </a:xfrm>
            <a:prstGeom prst="ellipse">
              <a:avLst/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4" name="图片 3" descr="研究院-白色LOG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7405" y="220980"/>
            <a:ext cx="2292985" cy="574675"/>
          </a:xfrm>
          <a:prstGeom prst="rect">
            <a:avLst/>
          </a:prstGeom>
        </p:spPr>
      </p:pic>
      <p:sp>
        <p:nvSpPr>
          <p:cNvPr id="12" name="副标题 1048672"/>
          <p:cNvSpPr txBox="1"/>
          <p:nvPr/>
        </p:nvSpPr>
        <p:spPr>
          <a:xfrm>
            <a:off x="3506470" y="3138170"/>
            <a:ext cx="4584700" cy="1151255"/>
          </a:xfrm>
          <a:prstGeom prst="rect">
            <a:avLst/>
          </a:prstGeom>
        </p:spPr>
        <p:txBody>
          <a:bodyPr>
            <a:normAutofit fontScale="6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zh-CN" altLang="en-US" sz="9600" b="1" dirty="0">
                <a:solidFill>
                  <a:schemeClr val="bg1"/>
                </a:solidFill>
              </a:rPr>
              <a:t>谢谢观看</a:t>
            </a:r>
            <a:endParaRPr lang="zh-CN" altLang="en-US" sz="9600" b="1" dirty="0">
              <a:solidFill>
                <a:schemeClr val="bg1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960495" y="4581525"/>
            <a:ext cx="367728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dist"/>
            <a:r>
              <a:rPr lang="en-US" altLang="zh-CN" sz="24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思源黑体 Bold" panose="020B0800000000000000" charset="-122"/>
                <a:sym typeface="+mn-ea"/>
              </a:rPr>
              <a:t>智启 AI· 创享无限</a:t>
            </a:r>
            <a:endParaRPr lang="en-US" altLang="zh-CN" sz="24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思源黑体 Bold" panose="020B0800000000000000" charset="-122"/>
              <a:sym typeface="+mn-ea"/>
            </a:endParaRPr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78485" y="380365"/>
            <a:ext cx="5912485" cy="31381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输入</a:t>
            </a:r>
            <a:r>
              <a:rPr lang="en-US" altLang="zh-CN"/>
              <a:t>rds</a:t>
            </a:r>
            <a:r>
              <a:rPr lang="zh-CN" altLang="en-US"/>
              <a:t>，包含原始</a:t>
            </a:r>
            <a:r>
              <a:rPr lang="en-US" altLang="zh-CN"/>
              <a:t>reads</a:t>
            </a:r>
            <a:endParaRPr lang="en-US" altLang="zh-CN"/>
          </a:p>
          <a:p>
            <a:r>
              <a:rPr lang="zh-CN" altLang="en-US"/>
              <a:t>如果存在</a:t>
            </a:r>
            <a:r>
              <a:rPr lang="en-US" altLang="zh-CN"/>
              <a:t>batch_key</a:t>
            </a:r>
            <a:r>
              <a:rPr lang="zh-CN" altLang="en-US"/>
              <a:t>，走</a:t>
            </a:r>
            <a:r>
              <a:rPr lang="en-US" altLang="zh-CN"/>
              <a:t>metaneighbor</a:t>
            </a:r>
            <a:r>
              <a:rPr lang="zh-CN" altLang="en-US"/>
              <a:t>，后可选分开注释或直接注释，可选</a:t>
            </a:r>
            <a:r>
              <a:rPr lang="en-US" altLang="zh-CN"/>
              <a:t>Integration</a:t>
            </a:r>
            <a:r>
              <a:rPr lang="zh-CN" altLang="en-US"/>
              <a:t>，分开注释和直接</a:t>
            </a:r>
            <a:r>
              <a:rPr lang="zh-CN" altLang="en-US"/>
              <a:t>注释</a:t>
            </a:r>
            <a:endParaRPr lang="zh-CN" altLang="en-US"/>
          </a:p>
          <a:p>
            <a:r>
              <a:rPr lang="zh-CN" altLang="en-US"/>
              <a:t>如果整合后选则</a:t>
            </a:r>
            <a:r>
              <a:rPr lang="en-US" altLang="zh-CN"/>
              <a:t>best</a:t>
            </a:r>
            <a:r>
              <a:rPr lang="zh-CN" altLang="en-US"/>
              <a:t>的</a:t>
            </a:r>
            <a:r>
              <a:rPr lang="en-US" altLang="zh-CN"/>
              <a:t>umap</a:t>
            </a:r>
            <a:r>
              <a:rPr lang="zh-CN" altLang="en-US"/>
              <a:t>做层次聚类，然后将两个层次聚类做一个统一，拿到最终版本的</a:t>
            </a:r>
            <a:r>
              <a:rPr lang="zh-CN" altLang="en-US"/>
              <a:t>注释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todo-list</a:t>
            </a:r>
            <a:endParaRPr lang="en-US" altLang="zh-CN"/>
          </a:p>
          <a:p>
            <a:r>
              <a:rPr lang="zh-CN" altLang="en-US"/>
              <a:t>封装注释</a:t>
            </a:r>
            <a:r>
              <a:rPr lang="zh-CN" altLang="en-US"/>
              <a:t>部分</a:t>
            </a:r>
            <a:endParaRPr lang="zh-CN" altLang="en-US"/>
          </a:p>
          <a:p>
            <a:r>
              <a:rPr lang="zh-CN" altLang="en-US"/>
              <a:t>封装</a:t>
            </a:r>
            <a:r>
              <a:rPr lang="en-US" altLang="zh-CN"/>
              <a:t>metaneighbor</a:t>
            </a:r>
            <a:endParaRPr lang="en-US" altLang="zh-CN"/>
          </a:p>
          <a:p>
            <a:r>
              <a:rPr lang="zh-CN" altLang="en-US"/>
              <a:t>封装</a:t>
            </a:r>
            <a:r>
              <a:rPr lang="en-US" altLang="zh-CN"/>
              <a:t>integration_scib</a:t>
            </a:r>
            <a:endParaRPr lang="en-US" altLang="zh-CN"/>
          </a:p>
          <a:p>
            <a:r>
              <a:rPr lang="zh-CN" altLang="en-US"/>
              <a:t>封装</a:t>
            </a:r>
            <a:r>
              <a:rPr lang="en-US" altLang="zh-CN"/>
              <a:t>hclust, metaneighbor</a:t>
            </a:r>
            <a:endParaRPr lang="en-US" altLang="zh-CN"/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78485" y="380365"/>
            <a:ext cx="5912485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需求：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直接基于分群</a:t>
            </a:r>
            <a:r>
              <a:rPr lang="zh-CN" altLang="en-US"/>
              <a:t>注释</a:t>
            </a:r>
            <a:endParaRPr lang="zh-CN" altLang="en-US"/>
          </a:p>
          <a:p>
            <a:r>
              <a:rPr lang="zh-CN" altLang="en-US"/>
              <a:t>整合后分群再</a:t>
            </a:r>
            <a:r>
              <a:rPr lang="zh-CN" altLang="en-US"/>
              <a:t>注释</a:t>
            </a:r>
            <a:endParaRPr lang="zh-CN" altLang="en-US"/>
          </a:p>
          <a:p>
            <a:r>
              <a:rPr lang="zh-CN" altLang="en-US"/>
              <a:t>先对齐测试不同整合方法，选最优再作为整体的</a:t>
            </a:r>
            <a:r>
              <a:rPr lang="zh-CN" altLang="en-US"/>
              <a:t>注释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zh-CN" altLang="en-US"/>
              <a:t>场景</a:t>
            </a:r>
            <a:endParaRPr lang="zh-CN" altLang="en-US"/>
          </a:p>
          <a:p>
            <a:r>
              <a:rPr lang="en-US" altLang="zh-CN"/>
              <a:t>- </a:t>
            </a:r>
            <a:r>
              <a:rPr lang="zh-CN" altLang="en-US"/>
              <a:t>单</a:t>
            </a:r>
            <a:r>
              <a:rPr lang="zh-CN" altLang="en-US"/>
              <a:t>分组样本的测试。简单看能注释到哪些细胞类型，数据</a:t>
            </a:r>
            <a:r>
              <a:rPr lang="zh-CN" altLang="en-US"/>
              <a:t>质量</a:t>
            </a:r>
            <a:endParaRPr lang="zh-CN" altLang="en-US"/>
          </a:p>
          <a:p>
            <a:r>
              <a:rPr lang="en-US" altLang="zh-CN"/>
              <a:t>- </a:t>
            </a:r>
            <a:r>
              <a:rPr lang="zh-CN" altLang="en-US"/>
              <a:t>多分组样本的</a:t>
            </a:r>
            <a:r>
              <a:rPr lang="zh-CN" altLang="en-US"/>
              <a:t>数据</a:t>
            </a:r>
            <a:endParaRPr lang="zh-CN" altLang="en-US"/>
          </a:p>
          <a:p>
            <a:r>
              <a:rPr lang="en-US" altLang="zh-CN"/>
              <a:t>  - </a:t>
            </a:r>
            <a:r>
              <a:rPr lang="zh-CN" altLang="en-US"/>
              <a:t>对照处理数据，例如野生型与突变体，无胁迫和有胁迫</a:t>
            </a:r>
            <a:r>
              <a:rPr lang="zh-CN" altLang="en-US"/>
              <a:t>等</a:t>
            </a:r>
            <a:endParaRPr lang="zh-CN" altLang="en-US"/>
          </a:p>
          <a:p>
            <a:r>
              <a:rPr lang="en-US" altLang="zh-CN"/>
              <a:t>  - </a:t>
            </a:r>
            <a:r>
              <a:rPr lang="zh-CN" altLang="en-US"/>
              <a:t>时序数据，例如种子发育过程，</a:t>
            </a:r>
            <a:r>
              <a:rPr lang="en-US" altLang="zh-CN"/>
              <a:t>0d</a:t>
            </a:r>
            <a:r>
              <a:rPr lang="zh-CN" altLang="en-US"/>
              <a:t>、</a:t>
            </a:r>
            <a:r>
              <a:rPr lang="en-US" altLang="zh-CN"/>
              <a:t>2d</a:t>
            </a:r>
            <a:r>
              <a:rPr lang="zh-CN" altLang="en-US"/>
              <a:t>、</a:t>
            </a:r>
            <a:r>
              <a:rPr lang="en-US" altLang="zh-CN"/>
              <a:t>4d</a:t>
            </a:r>
            <a:r>
              <a:rPr lang="zh-CN" altLang="en-US"/>
              <a:t>、</a:t>
            </a:r>
            <a:r>
              <a:rPr lang="en-US" altLang="zh-CN"/>
              <a:t>6d</a:t>
            </a:r>
            <a:endParaRPr lang="zh-CN" altLang="en-US"/>
          </a:p>
        </p:txBody>
      </p: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20059_1*a*1"/>
  <p:tag name="KSO_WM_TEMPLATE_CATEGORY" val="diagram"/>
  <p:tag name="KSO_WM_TEMPLATE_INDEX" val="20220059"/>
  <p:tag name="KSO_WM_UNIT_LAYERLEVEL" val="1"/>
  <p:tag name="KSO_WM_TAG_VERSION" val="1.0"/>
  <p:tag name="KSO_WM_BEAUTIFY_FLAG" val=""/>
  <p:tag name="KSO_WM_UNIT_ISCONTENTSTITLE" val="0"/>
  <p:tag name="KSO_WM_UNIT_ISNUMDGMTITLE" val="0"/>
  <p:tag name="KSO_WM_UNIT_PRESET_TEXT" val="简约上下导航版"/>
  <p:tag name="KSO_WM_UNIT_NOCLEAR" val="0"/>
  <p:tag name="KSO_WM_UNIT_VALUE" val="27"/>
  <p:tag name="KSO_WM_UNIT_TYPE" val="a"/>
  <p:tag name="KSO_WM_UNIT_INDEX" val="1"/>
  <p:tag name="KSO_WM_UNIT_BLOCK" val="0"/>
  <p:tag name="KSO_WM_UNIT_SM_LIMIT_TYPE" val="2"/>
  <p:tag name="KSO_WM_UNIT_DEC_AREA_ID" val="e98b3a31ebe84ee79486e9f4651df90b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TEXT_FILL_FORE_SCHEMECOLOR_INDEX_BRIGHTNESS" val="0.15"/>
  <p:tag name="KSO_WM_UNIT_TEXT_FILL_FORE_SCHEMECOLOR_INDEX" val="13"/>
  <p:tag name="KSO_WM_UNIT_TEXT_FILL_TYPE" val="1"/>
</p:tagLst>
</file>

<file path=ppt/tags/tag2.xml><?xml version="1.0" encoding="utf-8"?>
<p:tagLst xmlns:p="http://schemas.openxmlformats.org/presentationml/2006/main">
  <p:tag name="KSO_WPP_MARK_KEY" val="4532c672-f725-4b2d-adb7-31d3e1d62f15"/>
  <p:tag name="COMMONDATA" val="eyJoZGlkIjoiYzUxNmUyN2M1NDExYWQ2NTIwYWUyZTMzYWRkNjUxZDMifQ=="/>
  <p:tag name="RESOURCE_RECORD_KEY" val="{&quot;70&quot;:[3316162]}"/>
</p:tagLst>
</file>

<file path=ppt/theme/theme1.xml><?xml version="1.0" encoding="utf-8"?>
<a:theme xmlns:a="http://schemas.openxmlformats.org/drawingml/2006/main" name="2_Office 主题​​">
  <a:themeElements>
    <a:clrScheme name="">
      <a:dk1>
        <a:srgbClr val="000000"/>
      </a:dk1>
      <a:lt1>
        <a:srgbClr val="FFFFFF"/>
      </a:lt1>
      <a:dk2>
        <a:srgbClr val="E8EEF2"/>
      </a:dk2>
      <a:lt2>
        <a:srgbClr val="F9FAFB"/>
      </a:lt2>
      <a:accent1>
        <a:srgbClr val="2B4663"/>
      </a:accent1>
      <a:accent2>
        <a:srgbClr val="5C7885"/>
      </a:accent2>
      <a:accent3>
        <a:srgbClr val="94ACBC"/>
      </a:accent3>
      <a:accent4>
        <a:srgbClr val="B9CAE1"/>
      </a:accent4>
      <a:accent5>
        <a:srgbClr val="97ABBD"/>
      </a:accent5>
      <a:accent6>
        <a:srgbClr val="3B606F"/>
      </a:accent6>
      <a:hlink>
        <a:srgbClr val="5FCBFB"/>
      </a:hlink>
      <a:folHlink>
        <a:srgbClr val="B759BC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995</Words>
  <Application>WPS 演示</Application>
  <PresentationFormat>宽屏</PresentationFormat>
  <Paragraphs>103</Paragraphs>
  <Slides>10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Arial</vt:lpstr>
      <vt:lpstr>宋体</vt:lpstr>
      <vt:lpstr>Wingdings</vt:lpstr>
      <vt:lpstr>微软雅黑</vt:lpstr>
      <vt:lpstr>Elephant</vt:lpstr>
      <vt:lpstr>思源黑体 Bold</vt:lpstr>
      <vt:lpstr>黑体</vt:lpstr>
      <vt:lpstr>等线</vt:lpstr>
      <vt:lpstr>Arial Unicode MS</vt:lpstr>
      <vt:lpstr>等线 Light</vt:lpstr>
      <vt:lpstr>2_Office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 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吴逵(Kui Wu)</dc:creator>
  <cp:lastModifiedBy>杨东</cp:lastModifiedBy>
  <cp:revision>27</cp:revision>
  <dcterms:created xsi:type="dcterms:W3CDTF">2023-11-27T02:10:00Z</dcterms:created>
  <dcterms:modified xsi:type="dcterms:W3CDTF">2026-06-30T14:07:07Z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0x0101005BAA3B91CF810640BE1F7F7EA2F77C0C</vt:lpwstr>
  </property>
  <property fmtid="{D5CDD505-2E9C-101B-9397-08002B2CF9AE}" pid="3" name="KSOProductBuildVer">
    <vt:lpwstr>2052-12.1.0.19770</vt:lpwstr>
  </property>
  <property fmtid="{D5CDD505-2E9C-101B-9397-08002B2CF9AE}" pid="4" name="ICV">
    <vt:lpwstr>360EB15E0BC0490BB27B6AA91DB331FB_13</vt:lpwstr>
  </property>
  <property fmtid="{D5CDD505-2E9C-101B-9397-08002B2CF9AE}" pid="5" name="5B77E7CEEC58BC6AFAE8886BEB80DBEB">
    <vt:lpwstr>otCYQxs9Dbw2bUEn/Soxv9pYAoWsCRIsU8+gIbxzzmNcJN13+qHIPyWmbF9hFzPHyi2m8DLwi54E5OVVM5pJ0yGmgAiYTaR6oYUdYZxdjep6I9xviFUFZ9aTScfBW9OGzDoTsOy4Hnk41OAYM2kl4nuYleJTqZHVO3FOMzS0ypXO9Ui10VDjZprPzkrNd9GJAcutbBmi6czLaBg2mWJ6VMiICeCgcM23q5lB8TfWTZQsVTtbzTA5Be+vzhmXowNsNsftAbO56GjNcaBzdG7zzLVmheZzaxYJMp8SfQ99fEHA825DH4gLLZAbM97P5Knjfnb6K3XdISeo085sAWz/V+7TjvY1YiIZfYCVjGQKwgEFr4zvy+8bkxP8SLoAItCZ+vw0TU6KfhVzp7xRWFIGq6enl0YNqf/EITgf+c5cMi9ONnrV5LAYEoLHm7lbs+91BPKI6gtOugINRduvLKfPhyr82F+1yvxsPArb7hBsjnJOw1adyUbWwpN7UyvAkbLStU50bCMM530K+HbLnZvZwrhvG2NeXyfSuR/6fMUekDGPDJvoFlUe4KHSycYIzjwzxuKwfcLaBxsUo4R98qkBaCZ6WJaVI4413wBRjfflHug=</vt:lpwstr>
  </property>
</Properties>
</file>